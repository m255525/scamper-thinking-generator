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m255525.github.io/scamper-thinking-generato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6724" y="1682496"/>
            <a:ext cx="566928" cy="566928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3" name="Text 1"/>
          <p:cNvSpPr/>
          <p:nvPr/>
        </p:nvSpPr>
        <p:spPr>
          <a:xfrm>
            <a:off x="3506724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74820" y="1682496"/>
            <a:ext cx="566928" cy="566928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5" name="Text 3"/>
          <p:cNvSpPr/>
          <p:nvPr/>
        </p:nvSpPr>
        <p:spPr>
          <a:xfrm>
            <a:off x="4274820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1682496"/>
            <a:ext cx="566928" cy="566928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7" name="Text 5"/>
          <p:cNvSpPr/>
          <p:nvPr/>
        </p:nvSpPr>
        <p:spPr>
          <a:xfrm>
            <a:off x="5042916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1012" y="1682496"/>
            <a:ext cx="566928" cy="566928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9" name="Text 7"/>
          <p:cNvSpPr/>
          <p:nvPr/>
        </p:nvSpPr>
        <p:spPr>
          <a:xfrm>
            <a:off x="5811012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79108" y="1682496"/>
            <a:ext cx="566928" cy="566928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1" name="Text 9"/>
          <p:cNvSpPr/>
          <p:nvPr/>
        </p:nvSpPr>
        <p:spPr>
          <a:xfrm>
            <a:off x="6579108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7204" y="1682496"/>
            <a:ext cx="566928" cy="566928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3" name="Text 11"/>
          <p:cNvSpPr/>
          <p:nvPr/>
        </p:nvSpPr>
        <p:spPr>
          <a:xfrm>
            <a:off x="7347204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5300" y="1682496"/>
            <a:ext cx="566928" cy="566928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115300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B976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簡報版操作手冊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ECE7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SCAMPER 七問手冊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B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把一間巷口咖啡吧，問出七種創新的可能——SCAMPER 創新思考法產生器的使用說明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71516" y="5257800"/>
            <a:ext cx="1645920" cy="0"/>
          </a:xfrm>
          <a:prstGeom prst="line">
            <a:avLst/>
          </a:prstGeom>
          <a:noFill/>
          <a:ln w="12700">
            <a:solidFill>
              <a:srgbClr val="54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54406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製作：Mark Tsai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這個工具在做什麼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一句話說明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輸入一個你想改造的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產品、服務或問題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，工具會用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七個不同角度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逐一問你問題，幫你逼出創新點子——最後再整理出最值得優先做的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前三個方案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657600"/>
            <a:ext cx="82296" cy="1874520"/>
          </a:xfrm>
          <a:prstGeom prst="rect">
            <a:avLst/>
          </a:prstGeom>
          <a:solidFill>
            <a:srgbClr val="E0405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913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31596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小店老闆想幫生意找新花樣、學生做報告要交創意作業、團隊開會要腦力激盪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365760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3657600"/>
            <a:ext cx="82296" cy="1874520"/>
          </a:xfrm>
          <a:prstGeom prst="rect">
            <a:avLst/>
          </a:prstGeom>
          <a:solidFill>
            <a:srgbClr val="B9762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913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6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要記得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31596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所有欄位都可以直接手動打字，AI 只是用來加速發想的選用功能，不是必經流程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SCAMPER：七個提問的角度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名稱是七個英文字的字首縮寫，每個字母代表一種「逼問」既有主題的方式，避免思考只往同一個習慣方向想。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3633" y="2560320"/>
            <a:ext cx="731520" cy="731520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7" name="Text 5"/>
          <p:cNvSpPr/>
          <p:nvPr/>
        </p:nvSpPr>
        <p:spPr>
          <a:xfrm>
            <a:off x="983633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Substitute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1586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6851" y="2560320"/>
            <a:ext cx="731520" cy="731520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12" name="Text 10"/>
          <p:cNvSpPr/>
          <p:nvPr/>
        </p:nvSpPr>
        <p:spPr>
          <a:xfrm>
            <a:off x="2566851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14738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14738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Combine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24805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50070" y="2560320"/>
            <a:ext cx="731520" cy="731520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17" name="Text 15"/>
          <p:cNvSpPr/>
          <p:nvPr/>
        </p:nvSpPr>
        <p:spPr>
          <a:xfrm>
            <a:off x="415007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97957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97957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08023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33288" y="2560320"/>
            <a:ext cx="731520" cy="731520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22" name="Text 20"/>
          <p:cNvSpPr/>
          <p:nvPr/>
        </p:nvSpPr>
        <p:spPr>
          <a:xfrm>
            <a:off x="5733288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1175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1175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Modify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1241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6506" y="2560320"/>
            <a:ext cx="731520" cy="731520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6506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64393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其他用途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64393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Put to Another Use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74459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99725" y="2560320"/>
            <a:ext cx="731520" cy="731520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32" name="Text 30"/>
          <p:cNvSpPr/>
          <p:nvPr/>
        </p:nvSpPr>
        <p:spPr>
          <a:xfrm>
            <a:off x="8899725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647611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7611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Eliminate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57678" y="2286000"/>
            <a:ext cx="138205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82943" y="2560320"/>
            <a:ext cx="731520" cy="731520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37" name="Text 35"/>
          <p:cNvSpPr/>
          <p:nvPr/>
        </p:nvSpPr>
        <p:spPr>
          <a:xfrm>
            <a:off x="10482943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0230830" y="3474720"/>
            <a:ext cx="1235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30830" y="3913632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" y="5623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6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接下來，用工具內建的「巷口手沖咖啡吧」範例，帶你看七個角度分別怎麼想。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1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21665"/>
            <a:ext cx="419710" cy="419710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34399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1343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45879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54587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957359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95735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8839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883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0319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31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E0405A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SUBSTITUTE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替代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有什麼東西，可以換成別的？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E0405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用當地小農合作社直送咖啡豆取代進口大盤商，強化產地故事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A49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2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21665"/>
            <a:ext cx="419710" cy="419710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45879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54587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957359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95735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8839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883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0319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31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DA4952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COMBINE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合併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有沒有兩件事，可以綁在一起做？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DA4952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結合在地烘豆課程與飲品銷售，變成「喝咖啡順便學咖啡」的複合體驗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352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3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37065" y="521665"/>
            <a:ext cx="419710" cy="419710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43706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957359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95735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8839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883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0319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31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D3524A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調整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可以跟別人借哪個點子，改一改來用？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D3524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借鏡日本喫茶店的「一人靜心座位」，調整成適合久坐辦公的角落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D5B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4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37065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43706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48545" y="521665"/>
            <a:ext cx="419710" cy="419710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84854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368839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883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0319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31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CD5B42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MODIFY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修改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把某個地方放大或縮小，會怎樣？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CD5B42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縮小座位數、放大吧檯互動區，讓手沖過程本身變成主要體驗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6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5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37065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43706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48545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84854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60025" y="521665"/>
            <a:ext cx="419710" cy="419710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6002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80319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31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C6643A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PUT TO ANOTHER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其他用途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同樣的東西，還能拿去做什麼？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C66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白天營業空間晚上出租給小型講座／讀書會使用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6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6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37065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43706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48545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84854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60025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6002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671505" y="521665"/>
            <a:ext cx="419710" cy="419710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67150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191799" y="576072"/>
            <a:ext cx="310896" cy="31089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91799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C06D32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ELIMINATE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消除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拿掉一個東西，會不會反而更好？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C06D32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拿掉品項過多的菜單，只留 5 款招牌手沖，讓選擇更聚焦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976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七個角度 · 7 /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614105" y="576072"/>
            <a:ext cx="310896" cy="31089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4" name="Text 2"/>
          <p:cNvSpPr/>
          <p:nvPr/>
        </p:nvSpPr>
        <p:spPr>
          <a:xfrm>
            <a:off x="86141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25585" y="576072"/>
            <a:ext cx="310896" cy="31089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6" name="Text 4"/>
          <p:cNvSpPr/>
          <p:nvPr/>
        </p:nvSpPr>
        <p:spPr>
          <a:xfrm>
            <a:off x="902558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37065" y="576072"/>
            <a:ext cx="310896" cy="31089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8" name="Text 6"/>
          <p:cNvSpPr/>
          <p:nvPr/>
        </p:nvSpPr>
        <p:spPr>
          <a:xfrm>
            <a:off x="943706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48545" y="576072"/>
            <a:ext cx="310896" cy="31089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0" name="Text 8"/>
          <p:cNvSpPr/>
          <p:nvPr/>
        </p:nvSpPr>
        <p:spPr>
          <a:xfrm>
            <a:off x="984854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60025" y="576072"/>
            <a:ext cx="310896" cy="31089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6002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671505" y="576072"/>
            <a:ext cx="310896" cy="31089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671505" y="576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082985" y="521665"/>
            <a:ext cx="419710" cy="419710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082985" y="52166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1051560"/>
            <a:ext cx="1371600" cy="1371600"/>
          </a:xfrm>
          <a:prstGeom prst="ellipse">
            <a:avLst/>
          </a:prstGeom>
          <a:solidFill>
            <a:srgbClr val="B9762A"/>
          </a:solidFill>
          <a:ln/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42316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反轉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把順序或角色倒過來想，會怎樣？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9692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77640"/>
            <a:ext cx="9692640" cy="82296"/>
          </a:xfrm>
          <a:prstGeom prst="rect">
            <a:avLst/>
          </a:prstGeom>
          <a:solidFill>
            <a:srgbClr val="B976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咖啡吧筆記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把「客人等咖啡」反轉成「客人參與沖煮」的 DIY 手沖體驗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6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重點提醒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七個角度，不必每個都有神點子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的價值不在七個角度都要想出驚天動地的點子，而在</a:t>
            </a:r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C66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「強迫換位置提問」</a:t>
            </a:r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。有些角度對某個主題特別有效，有些角度想不出來也沒關係——重點是七個角度都認真問過一輪。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71516" y="4892040"/>
            <a:ext cx="1645920" cy="0"/>
          </a:xfrm>
          <a:prstGeom prst="line">
            <a:avLst/>
          </a:prstGeom>
          <a:noFill/>
          <a:ln w="12700">
            <a:solidFill>
              <a:srgbClr val="D9AF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7388" y="5239512"/>
            <a:ext cx="402336" cy="402336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7" name="Text 5"/>
          <p:cNvSpPr/>
          <p:nvPr/>
        </p:nvSpPr>
        <p:spPr>
          <a:xfrm>
            <a:off x="424738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96028" y="5239512"/>
            <a:ext cx="402336" cy="402336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9" name="Text 7"/>
          <p:cNvSpPr/>
          <p:nvPr/>
        </p:nvSpPr>
        <p:spPr>
          <a:xfrm>
            <a:off x="479602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44668" y="5239512"/>
            <a:ext cx="402336" cy="402336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11" name="Text 9"/>
          <p:cNvSpPr/>
          <p:nvPr/>
        </p:nvSpPr>
        <p:spPr>
          <a:xfrm>
            <a:off x="534466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3308" y="5239512"/>
            <a:ext cx="402336" cy="402336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3" name="Text 11"/>
          <p:cNvSpPr/>
          <p:nvPr/>
        </p:nvSpPr>
        <p:spPr>
          <a:xfrm>
            <a:off x="589330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1948" y="5239512"/>
            <a:ext cx="402336" cy="402336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90588" y="5239512"/>
            <a:ext cx="402336" cy="402336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99058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39228" y="5239512"/>
            <a:ext cx="402336" cy="402336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9" name="Text 17"/>
          <p:cNvSpPr/>
          <p:nvPr/>
        </p:nvSpPr>
        <p:spPr>
          <a:xfrm>
            <a:off x="753922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七問都問過了，換你動手拆解自己的主題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開始使用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五個步驟，從主題到成果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9348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8059" y="2212848"/>
            <a:ext cx="621792" cy="621792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6" name="Text 4"/>
          <p:cNvSpPr/>
          <p:nvPr/>
        </p:nvSpPr>
        <p:spPr>
          <a:xfrm>
            <a:off x="1388059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301752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輸入主題或選範例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840480"/>
            <a:ext cx="16056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最上方欄位輸入想改造的主題，或直接點 5 組內建範例快速開始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3822" y="2523744"/>
            <a:ext cx="201168" cy="0"/>
          </a:xfrm>
          <a:prstGeom prst="line">
            <a:avLst/>
          </a:prstGeom>
          <a:noFill/>
          <a:ln w="19050">
            <a:solidFill>
              <a:srgbClr val="ECD7D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2422" y="1920240"/>
            <a:ext cx="19348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8962" y="2212848"/>
            <a:ext cx="621792" cy="621792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78962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87014" y="301752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手動填，或 AI 一鍵展開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87014" y="3840480"/>
            <a:ext cx="16056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七張卡片直接點擊輸入點子；填入 API 金鑰後可一次生成全部七構面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84725" y="2523744"/>
            <a:ext cx="201168" cy="0"/>
          </a:xfrm>
          <a:prstGeom prst="line">
            <a:avLst/>
          </a:prstGeom>
          <a:noFill/>
          <a:ln w="19050">
            <a:solidFill>
              <a:srgbClr val="ECD7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3325" y="1920240"/>
            <a:ext cx="19348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9864" y="2212848"/>
            <a:ext cx="621792" cy="621792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18" name="Text 16"/>
          <p:cNvSpPr/>
          <p:nvPr/>
        </p:nvSpPr>
        <p:spPr>
          <a:xfrm>
            <a:off x="576986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77917" y="301752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單一構面局部重來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77917" y="3840480"/>
            <a:ext cx="16056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對某構面不滿意，按「AI 重新生成此構面」，不影響其他六個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75627" y="2523744"/>
            <a:ext cx="201168" cy="0"/>
          </a:xfrm>
          <a:prstGeom prst="line">
            <a:avLst/>
          </a:prstGeom>
          <a:noFill/>
          <a:ln w="19050">
            <a:solidFill>
              <a:srgbClr val="ECD7D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4227" y="1920240"/>
            <a:ext cx="19348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60766" y="2212848"/>
            <a:ext cx="621792" cy="621792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960766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68819" y="301752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選出前三方案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68819" y="3840480"/>
            <a:ext cx="16056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看好的點子按「選入前三」，手動或用 AI 綜合評估附上理由與建議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66530" y="2523744"/>
            <a:ext cx="201168" cy="0"/>
          </a:xfrm>
          <a:prstGeom prst="line">
            <a:avLst/>
          </a:prstGeom>
          <a:noFill/>
          <a:ln w="19050">
            <a:solidFill>
              <a:srgbClr val="ECD7D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95130" y="1920240"/>
            <a:ext cx="19348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51669" y="2212848"/>
            <a:ext cx="621792" cy="621792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30" name="Text 28"/>
          <p:cNvSpPr/>
          <p:nvPr/>
        </p:nvSpPr>
        <p:spPr>
          <a:xfrm>
            <a:off x="10151669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59722" y="3017520"/>
            <a:ext cx="16056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59722" y="3840480"/>
            <a:ext cx="16056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複製為文字、下載 .txt、列印存 PDF，或儲存成 .json 備份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使用前必看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620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AI 功能與使用提醒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82296" cy="3520440"/>
          </a:xfrm>
          <a:prstGeom prst="rect">
            <a:avLst/>
          </a:prstGeom>
          <a:solidFill>
            <a:srgbClr val="E0405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是選用功能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沒有填 API 金鑰完全不影響使用——所有欄位本來就可以直接手動編輯。想用 AI 時，金鑰要自己到 Claude／OpenAI／Gemini／OpenRouter 任一服務商申請，畫面會直接連到官方 API，不會經過本工具以外的任何伺服器。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074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7DA"/>
            </a:solidFill>
            <a:prstDash val="solid"/>
          </a:ln>
          <a:effectLst>
            <a:outerShdw sx="100000" sy="100000" kx="0" ky="0" algn="bl" rotWithShape="0" blurRad="101600" dist="38100" dir="8100000">
              <a:srgbClr val="2B162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74520"/>
            <a:ext cx="82296" cy="3520440"/>
          </a:xfrm>
          <a:prstGeom prst="rect">
            <a:avLst/>
          </a:prstGeom>
          <a:solidFill>
            <a:srgbClr val="C06D3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6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三件事記得留意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填寫的內容只存在自己瀏覽器裡，換電腦或清資料就會不見，重要內容記得下載備份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請勿輸入真實個資、公司機密，或不想被 AI 服務看到的敏感資訊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生成的內容僅供發想參考，正式商業決策請自行查證評估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62872" y="6400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7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SCAMPER 創新思考法產生器 · 操作手冊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0" y="1508760"/>
            <a:ext cx="457200" cy="457200"/>
          </a:xfrm>
          <a:prstGeom prst="ellipse">
            <a:avLst/>
          </a:prstGeom>
          <a:solidFill>
            <a:srgbClr val="E0405A"/>
          </a:solidFill>
          <a:ln/>
        </p:spPr>
      </p:sp>
      <p:sp>
        <p:nvSpPr>
          <p:cNvPr id="3" name="Text 1"/>
          <p:cNvSpPr/>
          <p:nvPr/>
        </p:nvSpPr>
        <p:spPr>
          <a:xfrm>
            <a:off x="40005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22292" y="1508760"/>
            <a:ext cx="457200" cy="457200"/>
          </a:xfrm>
          <a:prstGeom prst="ellipse">
            <a:avLst/>
          </a:prstGeom>
          <a:solidFill>
            <a:srgbClr val="DA4952"/>
          </a:solidFill>
          <a:ln/>
        </p:spPr>
      </p:sp>
      <p:sp>
        <p:nvSpPr>
          <p:cNvPr id="5" name="Text 3"/>
          <p:cNvSpPr/>
          <p:nvPr/>
        </p:nvSpPr>
        <p:spPr>
          <a:xfrm>
            <a:off x="46222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44084" y="1508760"/>
            <a:ext cx="457200" cy="457200"/>
          </a:xfrm>
          <a:prstGeom prst="ellipse">
            <a:avLst/>
          </a:prstGeom>
          <a:solidFill>
            <a:srgbClr val="D3524A"/>
          </a:solidFill>
          <a:ln/>
        </p:spPr>
      </p:sp>
      <p:sp>
        <p:nvSpPr>
          <p:cNvPr id="7" name="Text 5"/>
          <p:cNvSpPr/>
          <p:nvPr/>
        </p:nvSpPr>
        <p:spPr>
          <a:xfrm>
            <a:off x="52440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65876" y="1508760"/>
            <a:ext cx="457200" cy="457200"/>
          </a:xfrm>
          <a:prstGeom prst="ellipse">
            <a:avLst/>
          </a:prstGeom>
          <a:solidFill>
            <a:srgbClr val="CD5B42"/>
          </a:solidFill>
          <a:ln/>
        </p:spPr>
      </p:sp>
      <p:sp>
        <p:nvSpPr>
          <p:cNvPr id="9" name="Text 7"/>
          <p:cNvSpPr/>
          <p:nvPr/>
        </p:nvSpPr>
        <p:spPr>
          <a:xfrm>
            <a:off x="58658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87668" y="1508760"/>
            <a:ext cx="457200" cy="457200"/>
          </a:xfrm>
          <a:prstGeom prst="ellipse">
            <a:avLst/>
          </a:prstGeom>
          <a:solidFill>
            <a:srgbClr val="C6643A"/>
          </a:solidFill>
          <a:ln/>
        </p:spPr>
      </p:sp>
      <p:sp>
        <p:nvSpPr>
          <p:cNvPr id="11" name="Text 9"/>
          <p:cNvSpPr/>
          <p:nvPr/>
        </p:nvSpPr>
        <p:spPr>
          <a:xfrm>
            <a:off x="64876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09460" y="1508760"/>
            <a:ext cx="457200" cy="457200"/>
          </a:xfrm>
          <a:prstGeom prst="ellipse">
            <a:avLst/>
          </a:prstGeom>
          <a:solidFill>
            <a:srgbClr val="C06D32"/>
          </a:solidFill>
          <a:ln/>
        </p:spPr>
      </p:sp>
      <p:sp>
        <p:nvSpPr>
          <p:cNvPr id="13" name="Text 11"/>
          <p:cNvSpPr/>
          <p:nvPr/>
        </p:nvSpPr>
        <p:spPr>
          <a:xfrm>
            <a:off x="71094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31252" y="1508760"/>
            <a:ext cx="457200" cy="457200"/>
          </a:xfrm>
          <a:prstGeom prst="ellipse">
            <a:avLst/>
          </a:prstGeom>
          <a:solidFill>
            <a:srgbClr val="B9762A"/>
          </a:solidFill>
          <a:ln/>
        </p:spPr>
      </p:sp>
      <p:sp>
        <p:nvSpPr>
          <p:cNvPr id="15" name="Text 13"/>
          <p:cNvSpPr/>
          <p:nvPr/>
        </p:nvSpPr>
        <p:spPr>
          <a:xfrm>
            <a:off x="77312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2514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976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開始動腦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ECE7"/>
                </a:solidFill>
                <a:latin typeface="DFKai-SB" pitchFamily="34" charset="0"/>
                <a:ea typeface="DFKai-SB" pitchFamily="34" charset="-122"/>
                <a:cs typeface="DFKai-SB" pitchFamily="34" charset="-120"/>
              </a:rPr>
              <a:t>換個角度，老點子也能長出新故事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463040" y="3794760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B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SCAMPER 創新思考法產生器，從你身邊任何一個產品或問題開始問起。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17036" y="448056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E0405A"/>
          </a:solidFill>
          <a:ln/>
        </p:spPr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3717036" y="44805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m255525.github.io/scamper-thinking-generator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製作：Mark Tsai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SCAMPER 七問手冊</dc:title>
  <dc:subject>PptxGenJS Presentation</dc:subject>
  <dc:creator>Mark Tsai</dc:creator>
  <cp:lastModifiedBy>Mark Tsai</cp:lastModifiedBy>
  <cp:revision>1</cp:revision>
  <dcterms:created xsi:type="dcterms:W3CDTF">2026-09-07T08:40:32Z</dcterms:created>
  <dcterms:modified xsi:type="dcterms:W3CDTF">2026-09-07T08:40:32Z</dcterms:modified>
</cp:coreProperties>
</file>